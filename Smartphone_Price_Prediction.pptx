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196"/>
    <p:restoredTop sz="94668"/>
  </p:normalViewPr>
  <p:slideViewPr>
    <p:cSldViewPr snapToGrid="0" snapToObjects="1">
      <p:cViewPr varScale="1">
        <p:scale>
          <a:sx n="74" d="100"/>
          <a:sy n="74" d="100"/>
        </p:scale>
        <p:origin x="176" y="113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11/5/25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11/5/25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11/5/25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11/5/25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11/5/25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11/5/25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11/5/25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/>
              <a:t>Smartphone Price Prediction Using Machine Learning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1800">
                <a:latin typeface="Times New Roman"/>
              </a:defRPr>
            </a:pPr>
            <a:r>
              <a:rPr dirty="0"/>
              <a:t>Final Project Presentation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latin typeface="Times New Roman"/>
              </a:defRPr>
            </a:pPr>
            <a:r>
              <a:rPr dirty="0"/>
              <a:t>Smartphone prices vary widely based on brand and specifications.</a:t>
            </a:r>
          </a:p>
          <a:p>
            <a:pPr>
              <a:defRPr sz="1800">
                <a:latin typeface="Times New Roman"/>
              </a:defRPr>
            </a:pPr>
            <a:r>
              <a:rPr dirty="0"/>
              <a:t>Consumers struggle to determine if a smartphone is priced fairly.</a:t>
            </a:r>
          </a:p>
          <a:p>
            <a:pPr>
              <a:defRPr sz="1800">
                <a:latin typeface="Times New Roman"/>
              </a:defRPr>
            </a:pPr>
            <a:r>
              <a:rPr dirty="0"/>
              <a:t>Goal: Build a model that predicts smartphone prices based on technical specs.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Dataset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latin typeface="Times New Roman"/>
              </a:defRPr>
            </a:pPr>
            <a:r>
              <a:rPr dirty="0"/>
              <a:t>Source: Kaggle – Smartphone Specifications &amp; Price Dataset</a:t>
            </a:r>
          </a:p>
          <a:p>
            <a:pPr>
              <a:defRPr sz="1800">
                <a:latin typeface="Times New Roman"/>
              </a:defRPr>
            </a:pPr>
            <a:r>
              <a:rPr dirty="0"/>
              <a:t>Rows: ~980 samples, </a:t>
            </a:r>
            <a:r>
              <a:rPr lang="en-US" dirty="0"/>
              <a:t>22</a:t>
            </a:r>
            <a:r>
              <a:rPr dirty="0"/>
              <a:t> features</a:t>
            </a:r>
          </a:p>
          <a:p>
            <a:pPr>
              <a:defRPr sz="1800">
                <a:latin typeface="Times New Roman"/>
              </a:defRPr>
            </a:pPr>
            <a:r>
              <a:rPr dirty="0"/>
              <a:t>Features include brand, RAM, storage, processor, battery, camera, OS, etc.</a:t>
            </a:r>
          </a:p>
          <a:p>
            <a:pPr>
              <a:defRPr sz="1800">
                <a:latin typeface="Times New Roman"/>
              </a:defRPr>
            </a:pPr>
            <a:r>
              <a:rPr dirty="0"/>
              <a:t>Data cleaning included missing value handling and type conversion.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Exploratory Data Analysis (EDA)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87843"/>
            <a:ext cx="8229600" cy="4525963"/>
          </a:xfrm>
        </p:spPr>
        <p:txBody>
          <a:bodyPr/>
          <a:lstStyle/>
          <a:p>
            <a:pPr>
              <a:defRPr sz="1800">
                <a:latin typeface="Times New Roman"/>
              </a:defRPr>
            </a:pPr>
            <a:r>
              <a:rPr dirty="0"/>
              <a:t>Analyzed distributions and correlations between features and price.</a:t>
            </a:r>
          </a:p>
          <a:p>
            <a:pPr>
              <a:defRPr sz="1800">
                <a:latin typeface="Times New Roman"/>
              </a:defRPr>
            </a:pPr>
            <a:r>
              <a:rPr dirty="0"/>
              <a:t>Strong predictors found: RAM, internal memory, processor speed, brand.</a:t>
            </a:r>
          </a:p>
          <a:p>
            <a:pPr>
              <a:defRPr sz="1800">
                <a:latin typeface="Times New Roman"/>
              </a:defRPr>
            </a:pPr>
            <a:r>
              <a:rPr dirty="0"/>
              <a:t>Visualizations used: histograms, heatmap.</a:t>
            </a:r>
          </a:p>
        </p:txBody>
      </p:sp>
      <p:pic>
        <p:nvPicPr>
          <p:cNvPr id="7" name="Picture 6" descr="A graph of a number of blue bars&#10;&#10;AI-generated content may be incorrect.">
            <a:extLst>
              <a:ext uri="{FF2B5EF4-FFF2-40B4-BE49-F238E27FC236}">
                <a16:creationId xmlns:a16="http://schemas.microsoft.com/office/drawing/2014/main" id="{0E411708-75FF-8B63-7797-852D315368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8541" y="2658788"/>
            <a:ext cx="7339914" cy="429806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EDA Visuals</a:t>
            </a:r>
          </a:p>
        </p:txBody>
      </p:sp>
      <p:pic>
        <p:nvPicPr>
          <p:cNvPr id="4" name="Content Placeholder 3" descr="A graph of a distribution of avg rating&#10;&#10;AI-generated content may be incorrect.">
            <a:extLst>
              <a:ext uri="{FF2B5EF4-FFF2-40B4-BE49-F238E27FC236}">
                <a16:creationId xmlns:a16="http://schemas.microsoft.com/office/drawing/2014/main" id="{C3787948-AED1-E17F-0AD0-4B9852C6330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-135104" y="1587843"/>
            <a:ext cx="7857255" cy="4525963"/>
          </a:xfrm>
          <a:prstGeom prst="rect">
            <a:avLst/>
          </a:prstGeom>
        </p:spPr>
      </p:pic>
      <p:pic>
        <p:nvPicPr>
          <p:cNvPr id="6" name="Picture 5" descr="A screenshot of a graph&#10;&#10;AI-generated content may be incorrect.">
            <a:extLst>
              <a:ext uri="{FF2B5EF4-FFF2-40B4-BE49-F238E27FC236}">
                <a16:creationId xmlns:a16="http://schemas.microsoft.com/office/drawing/2014/main" id="{9AB3D8D3-C28D-32E5-5AEB-67E6442765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3028" y="1350673"/>
            <a:ext cx="7772400" cy="500030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Machine Learning Approach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latin typeface="Times New Roman"/>
              </a:defRPr>
            </a:pPr>
            <a:r>
              <a:rPr dirty="0"/>
              <a:t>Supervised Learning – Regression Task</a:t>
            </a:r>
          </a:p>
          <a:p>
            <a:pPr>
              <a:defRPr sz="1800">
                <a:latin typeface="Times New Roman"/>
              </a:defRPr>
            </a:pPr>
            <a:r>
              <a:rPr dirty="0"/>
              <a:t>Models used: Ridge Regression, Random Forest, Gradient Boosting</a:t>
            </a:r>
          </a:p>
          <a:p>
            <a:pPr>
              <a:defRPr sz="1800">
                <a:latin typeface="Times New Roman"/>
              </a:defRPr>
            </a:pPr>
            <a:r>
              <a:rPr dirty="0"/>
              <a:t>Used 5-Fold Cross-Validation and </a:t>
            </a:r>
            <a:r>
              <a:rPr dirty="0" err="1"/>
              <a:t>GridSearch</a:t>
            </a:r>
            <a:r>
              <a:rPr dirty="0"/>
              <a:t> for hyperparameter tuning.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Modeling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latin typeface="Times New Roman"/>
              </a:defRPr>
            </a:pPr>
            <a:r>
              <a:rPr dirty="0"/>
              <a:t>Preprocessing with </a:t>
            </a:r>
            <a:r>
              <a:rPr dirty="0" err="1"/>
              <a:t>ColumnTransformer</a:t>
            </a:r>
            <a:endParaRPr dirty="0"/>
          </a:p>
          <a:p>
            <a:pPr>
              <a:defRPr sz="1800">
                <a:latin typeface="Times New Roman"/>
              </a:defRPr>
            </a:pPr>
            <a:r>
              <a:rPr dirty="0"/>
              <a:t>Numeric: Median Imputation + Scaling</a:t>
            </a:r>
          </a:p>
          <a:p>
            <a:pPr>
              <a:defRPr sz="1800">
                <a:latin typeface="Times New Roman"/>
              </a:defRPr>
            </a:pPr>
            <a:r>
              <a:rPr dirty="0"/>
              <a:t>Categorical: Most Frequent Imputation + One-Hot Encoding</a:t>
            </a:r>
          </a:p>
          <a:p>
            <a:pPr>
              <a:defRPr sz="1800">
                <a:latin typeface="Times New Roman"/>
              </a:defRPr>
            </a:pPr>
            <a:r>
              <a:rPr dirty="0"/>
              <a:t>Train/Test Split: 80/20 ratio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Model Performance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latin typeface="Times New Roman"/>
              </a:defRPr>
            </a:pPr>
            <a:r>
              <a:rPr dirty="0"/>
              <a:t>Best model: Gradient Boosting Regressor</a:t>
            </a:r>
          </a:p>
          <a:p>
            <a:pPr>
              <a:defRPr sz="1800">
                <a:latin typeface="Times New Roman"/>
              </a:defRPr>
            </a:pPr>
            <a:r>
              <a:rPr dirty="0"/>
              <a:t>Metrics compared: RMSE, MAE, R²</a:t>
            </a:r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3E39EDA-2402-5301-035B-F2AB19537D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346" y="2682611"/>
            <a:ext cx="7772400" cy="148161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Improve the performance(log-price)</a:t>
            </a:r>
            <a:endParaRPr dirty="0"/>
          </a:p>
        </p:txBody>
      </p:sp>
      <p:pic>
        <p:nvPicPr>
          <p:cNvPr id="5" name="Content Placeholder 4" descr="A screenshot of a graph&#10;&#10;AI-generated content may be incorrect.">
            <a:extLst>
              <a:ext uri="{FF2B5EF4-FFF2-40B4-BE49-F238E27FC236}">
                <a16:creationId xmlns:a16="http://schemas.microsoft.com/office/drawing/2014/main" id="{10678B67-4335-FDB6-2092-E54B9FC8B5E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05481" y="4061510"/>
            <a:ext cx="8229600" cy="1629851"/>
          </a:xfrm>
        </p:spPr>
      </p:pic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850B332-E249-7834-8534-D309C545C6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481" y="1780568"/>
            <a:ext cx="7772400" cy="1496032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759DE380-C068-87FA-06B4-D71261989E7A}"/>
              </a:ext>
            </a:extLst>
          </p:cNvPr>
          <p:cNvSpPr txBox="1">
            <a:spLocks/>
          </p:cNvSpPr>
          <p:nvPr/>
        </p:nvSpPr>
        <p:spPr>
          <a:xfrm>
            <a:off x="872034" y="1203371"/>
            <a:ext cx="5313406" cy="61393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000" dirty="0"/>
              <a:t>Use target ‘price’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E8847EF6-7F58-FF29-1C5E-2074DB95B997}"/>
              </a:ext>
            </a:extLst>
          </p:cNvPr>
          <p:cNvSpPr txBox="1">
            <a:spLocks/>
          </p:cNvSpPr>
          <p:nvPr/>
        </p:nvSpPr>
        <p:spPr>
          <a:xfrm>
            <a:off x="752291" y="3362090"/>
            <a:ext cx="5313406" cy="61393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000" dirty="0"/>
              <a:t>Use target ‘</a:t>
            </a:r>
            <a:r>
              <a:rPr lang="en-US" sz="2000" dirty="0" err="1"/>
              <a:t>log_price</a:t>
            </a:r>
            <a:r>
              <a:rPr lang="en-US" sz="2000" dirty="0"/>
              <a:t>’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7" grpId="0"/>
      <p:bldP spid="8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Conclusion &amp; Future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latin typeface="Times New Roman"/>
              </a:defRPr>
            </a:pPr>
            <a:r>
              <a:rPr dirty="0"/>
              <a:t>Ensemble models outperformed the linear model.</a:t>
            </a:r>
          </a:p>
          <a:p>
            <a:pPr>
              <a:defRPr sz="1800">
                <a:latin typeface="Times New Roman"/>
              </a:defRPr>
            </a:pPr>
            <a:r>
              <a:rPr dirty="0"/>
              <a:t>Gradient Boosting achieved strongest accuracy and generalization.</a:t>
            </a:r>
          </a:p>
          <a:p>
            <a:pPr>
              <a:defRPr sz="1800">
                <a:latin typeface="Times New Roman"/>
              </a:defRPr>
            </a:pPr>
            <a:r>
              <a:rPr dirty="0"/>
              <a:t>Future Improvements: Try </a:t>
            </a:r>
            <a:r>
              <a:rPr lang="en-US" dirty="0"/>
              <a:t> advanced models such as </a:t>
            </a:r>
            <a:r>
              <a:rPr dirty="0" err="1"/>
              <a:t>XGBoost</a:t>
            </a:r>
            <a:r>
              <a:rPr dirty="0"/>
              <a:t>/</a:t>
            </a:r>
            <a:r>
              <a:rPr dirty="0" err="1"/>
              <a:t>LightGBM</a:t>
            </a:r>
            <a:r>
              <a:rPr lang="en-US" dirty="0"/>
              <a:t> and group brands.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9D106A-CD89-55C3-9D90-708AEF62C6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5617" y="1567543"/>
            <a:ext cx="8229600" cy="1143000"/>
          </a:xfrm>
        </p:spPr>
        <p:txBody>
          <a:bodyPr/>
          <a:lstStyle/>
          <a:p>
            <a:r>
              <a:rPr lang="en-VN" dirty="0"/>
              <a:t>Thank you for review my project!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2E8EBBD-18B0-0BD1-CA5A-732281DAEF61}"/>
              </a:ext>
            </a:extLst>
          </p:cNvPr>
          <p:cNvSpPr txBox="1">
            <a:spLocks/>
          </p:cNvSpPr>
          <p:nvPr/>
        </p:nvSpPr>
        <p:spPr>
          <a:xfrm>
            <a:off x="457200" y="3429000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/>
              <a:t>Github</a:t>
            </a:r>
            <a:r>
              <a:rPr lang="en-US" sz="2400" dirty="0"/>
              <a:t> repository URL:</a:t>
            </a:r>
          </a:p>
          <a:p>
            <a:r>
              <a:rPr lang="en-US" sz="2400" dirty="0"/>
              <a:t>https://</a:t>
            </a:r>
            <a:r>
              <a:rPr lang="en-US" sz="2400" dirty="0" err="1"/>
              <a:t>github.com</a:t>
            </a:r>
            <a:r>
              <a:rPr lang="en-US" sz="2400" dirty="0"/>
              <a:t>/phi-nguyen-95/Smartphone-price-prediction</a:t>
            </a:r>
            <a:endParaRPr lang="en-VN" sz="2400" dirty="0"/>
          </a:p>
        </p:txBody>
      </p:sp>
    </p:spTree>
    <p:extLst>
      <p:ext uri="{BB962C8B-B14F-4D97-AF65-F5344CB8AC3E}">
        <p14:creationId xmlns:p14="http://schemas.microsoft.com/office/powerpoint/2010/main" val="11121960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" presetClass="entr" presetSubtype="1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  <p:bldP spid="4" grpId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213</TotalTime>
  <Words>274</Words>
  <Application>Microsoft Macintosh PowerPoint</Application>
  <PresentationFormat>On-screen Show (4:3)</PresentationFormat>
  <Paragraphs>38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Smartphone Price Prediction Using Machine Learning</vt:lpstr>
      <vt:lpstr>Problem Statement</vt:lpstr>
      <vt:lpstr>Dataset Overview</vt:lpstr>
      <vt:lpstr>Exploratory Data Analysis (EDA)</vt:lpstr>
      <vt:lpstr>EDA Visuals</vt:lpstr>
      <vt:lpstr>Machine Learning Approach</vt:lpstr>
      <vt:lpstr>Modeling Pipeline</vt:lpstr>
      <vt:lpstr>Model Performance Summary</vt:lpstr>
      <vt:lpstr>Improve the performance(log-price)</vt:lpstr>
      <vt:lpstr>Conclusion &amp; Future Work</vt:lpstr>
      <vt:lpstr>Thank you for review my project!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Phi Nguyen</cp:lastModifiedBy>
  <cp:revision>8</cp:revision>
  <dcterms:created xsi:type="dcterms:W3CDTF">2013-01-27T09:14:16Z</dcterms:created>
  <dcterms:modified xsi:type="dcterms:W3CDTF">2025-11-05T13:09:27Z</dcterms:modified>
  <cp:category/>
</cp:coreProperties>
</file>