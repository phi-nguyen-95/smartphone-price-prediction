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50"/>
    <p:restoredTop sz="94722"/>
  </p:normalViewPr>
  <p:slideViewPr>
    <p:cSldViewPr snapToGrid="0" snapToObjects="1">
      <p:cViewPr varScale="1">
        <p:scale>
          <a:sx n="98" d="100"/>
          <a:sy n="98" d="100"/>
        </p:scale>
        <p:origin x="192" y="6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Smartphone Price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latin typeface="Times New Roman"/>
              </a:defRPr>
            </a:pPr>
            <a:r>
              <a:rPr dirty="0"/>
              <a:t>Final Project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Times New Roman"/>
              </a:defRPr>
            </a:pPr>
            <a:r>
              <a:rPr dirty="0"/>
              <a:t>Smartphone prices vary widely based on brand and specifications.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Consumers struggle to determine if a smartphone is priced fairly.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Goal: Build a model that predicts smartphone prices based on technical specs.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Times New Roman"/>
              </a:defRPr>
            </a:pPr>
            <a:r>
              <a:rPr dirty="0"/>
              <a:t>Source: Kaggle – Smartphone Specifications &amp; Price Dataset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Rows: ~980 samples, </a:t>
            </a:r>
            <a:r>
              <a:rPr lang="en-US" dirty="0"/>
              <a:t>22</a:t>
            </a:r>
            <a:r>
              <a:rPr dirty="0"/>
              <a:t> features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Features include brand, RAM, storage, processor, battery, camera, OS, etc.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Data cleaning included missing value handling and type conversion.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87843"/>
            <a:ext cx="8229600" cy="4525963"/>
          </a:xfrm>
        </p:spPr>
        <p:txBody>
          <a:bodyPr/>
          <a:lstStyle/>
          <a:p>
            <a:pPr>
              <a:defRPr sz="1800">
                <a:latin typeface="Times New Roman"/>
              </a:defRPr>
            </a:pPr>
            <a:r>
              <a:rPr dirty="0"/>
              <a:t>Analyzed distributions and correlations between features and price.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Strong predictors found: RAM, internal memory, processor speed, brand.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Visualizations used: histograms, heatmap.</a:t>
            </a:r>
          </a:p>
        </p:txBody>
      </p:sp>
      <p:pic>
        <p:nvPicPr>
          <p:cNvPr id="7" name="Picture 6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0E411708-75FF-8B63-7797-852D31536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41" y="2658788"/>
            <a:ext cx="7339914" cy="42980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EDA Visuals</a:t>
            </a:r>
          </a:p>
        </p:txBody>
      </p:sp>
      <p:pic>
        <p:nvPicPr>
          <p:cNvPr id="4" name="Content Placeholder 3" descr="A graph of a distribution of avg rating&#10;&#10;AI-generated content may be incorrect.">
            <a:extLst>
              <a:ext uri="{FF2B5EF4-FFF2-40B4-BE49-F238E27FC236}">
                <a16:creationId xmlns:a16="http://schemas.microsoft.com/office/drawing/2014/main" id="{C3787948-AED1-E17F-0AD0-4B9852C633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35104" y="1587843"/>
            <a:ext cx="7857255" cy="4525963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9AB3D8D3-C28D-32E5-5AEB-67E644276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028" y="1350673"/>
            <a:ext cx="7772400" cy="50003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Machine Learning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Times New Roman"/>
              </a:defRPr>
            </a:pPr>
            <a:r>
              <a:rPr dirty="0"/>
              <a:t>Supervised Learning – Regression Task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Models used: Ridge Regression, Random Forest, Gradient Boosting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Used 5-Fold Cross-Validation and </a:t>
            </a:r>
            <a:r>
              <a:rPr dirty="0" err="1"/>
              <a:t>GridSearch</a:t>
            </a:r>
            <a:r>
              <a:rPr dirty="0"/>
              <a:t> for hyperparameter tuning.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Times New Roman"/>
              </a:defRPr>
            </a:pPr>
            <a:r>
              <a:rPr dirty="0"/>
              <a:t>Preprocessing with </a:t>
            </a:r>
            <a:r>
              <a:rPr dirty="0" err="1"/>
              <a:t>ColumnTransformer</a:t>
            </a:r>
            <a:endParaRPr dirty="0"/>
          </a:p>
          <a:p>
            <a:pPr>
              <a:defRPr sz="1800">
                <a:latin typeface="Times New Roman"/>
              </a:defRPr>
            </a:pPr>
            <a:r>
              <a:rPr dirty="0"/>
              <a:t>Numeric: Median Imputation + Scaling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Categorical: Most Frequent Imputation + One-Hot Encoding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Train/Test Split: 80/20 ratio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Times New Roman"/>
              </a:defRPr>
            </a:pPr>
            <a:r>
              <a:rPr dirty="0"/>
              <a:t>Best model: Gradient Boosting Regressor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Metrics compared: RMSE, MAE, R²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E39EDA-2402-5301-035B-F2AB19537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46" y="2682611"/>
            <a:ext cx="7772400" cy="14816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Improve the performance(log-price)</a:t>
            </a:r>
            <a:endParaRPr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10678B67-4335-FDB6-2092-E54B9FC8B5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481" y="4061510"/>
            <a:ext cx="8229600" cy="1629851"/>
          </a:xfr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50B332-E249-7834-8534-D309C545C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81" y="1780568"/>
            <a:ext cx="7772400" cy="149603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59DE380-C068-87FA-06B4-D71261989E7A}"/>
              </a:ext>
            </a:extLst>
          </p:cNvPr>
          <p:cNvSpPr txBox="1">
            <a:spLocks/>
          </p:cNvSpPr>
          <p:nvPr/>
        </p:nvSpPr>
        <p:spPr>
          <a:xfrm>
            <a:off x="872034" y="1203371"/>
            <a:ext cx="5313406" cy="613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Use target ‘price’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847EF6-7F58-FF29-1C5E-2074DB95B997}"/>
              </a:ext>
            </a:extLst>
          </p:cNvPr>
          <p:cNvSpPr txBox="1">
            <a:spLocks/>
          </p:cNvSpPr>
          <p:nvPr/>
        </p:nvSpPr>
        <p:spPr>
          <a:xfrm>
            <a:off x="752291" y="3362090"/>
            <a:ext cx="5313406" cy="613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Use target ‘</a:t>
            </a:r>
            <a:r>
              <a:rPr lang="en-US" sz="2000" dirty="0" err="1"/>
              <a:t>log_price</a:t>
            </a:r>
            <a:r>
              <a:rPr lang="en-US" sz="2000" dirty="0"/>
              <a:t>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Times New Roman"/>
              </a:defRPr>
            </a:pPr>
            <a:r>
              <a:rPr dirty="0"/>
              <a:t>Ensemble models outperformed the linear model.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Gradient Boosting achieved strongest accuracy and generalization.</a:t>
            </a:r>
          </a:p>
          <a:p>
            <a:pPr>
              <a:defRPr sz="1800">
                <a:latin typeface="Times New Roman"/>
              </a:defRPr>
            </a:pPr>
            <a:r>
              <a:rPr dirty="0"/>
              <a:t>Future Improvements: Try </a:t>
            </a:r>
            <a:r>
              <a:rPr lang="en-US" dirty="0"/>
              <a:t> advanced models such as </a:t>
            </a:r>
            <a:r>
              <a:rPr dirty="0" err="1"/>
              <a:t>XGBoost</a:t>
            </a:r>
            <a:r>
              <a:rPr dirty="0"/>
              <a:t>/</a:t>
            </a:r>
            <a:r>
              <a:rPr dirty="0" err="1"/>
              <a:t>LightGBM</a:t>
            </a:r>
            <a:r>
              <a:rPr lang="en-US" dirty="0"/>
              <a:t> and group brands.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106A-CD89-55C3-9D90-708AEF62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17" y="1567543"/>
            <a:ext cx="8229600" cy="1143000"/>
          </a:xfrm>
        </p:spPr>
        <p:txBody>
          <a:bodyPr/>
          <a:lstStyle/>
          <a:p>
            <a:r>
              <a:rPr lang="en-VN" dirty="0"/>
              <a:t>Thank you for review my project!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E8EBBD-18B0-0BD1-CA5A-732281DAEF61}"/>
              </a:ext>
            </a:extLst>
          </p:cNvPr>
          <p:cNvSpPr txBox="1">
            <a:spLocks/>
          </p:cNvSpPr>
          <p:nvPr/>
        </p:nvSpPr>
        <p:spPr>
          <a:xfrm>
            <a:off x="457200" y="3429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Github</a:t>
            </a:r>
            <a:r>
              <a:rPr lang="en-US" sz="2400" dirty="0"/>
              <a:t> repository URL:</a:t>
            </a:r>
          </a:p>
          <a:p>
            <a:endParaRPr lang="en-VN" sz="2400" dirty="0"/>
          </a:p>
        </p:txBody>
      </p:sp>
    </p:spTree>
    <p:extLst>
      <p:ext uri="{BB962C8B-B14F-4D97-AF65-F5344CB8AC3E}">
        <p14:creationId xmlns:p14="http://schemas.microsoft.com/office/powerpoint/2010/main" val="111219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265</Words>
  <Application>Microsoft Macintosh PowerPoint</Application>
  <PresentationFormat>On-screen Show (4:3)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Smartphone Price Prediction Using Machine Learning</vt:lpstr>
      <vt:lpstr>Problem Statement</vt:lpstr>
      <vt:lpstr>Dataset Overview</vt:lpstr>
      <vt:lpstr>Exploratory Data Analysis (EDA)</vt:lpstr>
      <vt:lpstr>EDA Visuals</vt:lpstr>
      <vt:lpstr>Machine Learning Approach</vt:lpstr>
      <vt:lpstr>Modeling Pipeline</vt:lpstr>
      <vt:lpstr>Model Performance Summary</vt:lpstr>
      <vt:lpstr>Improve the performance(log-price)</vt:lpstr>
      <vt:lpstr>Conclusion &amp; Future Work</vt:lpstr>
      <vt:lpstr>Thank you for review my project!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Phi Nguyen</cp:lastModifiedBy>
  <cp:revision>5</cp:revision>
  <dcterms:created xsi:type="dcterms:W3CDTF">2013-01-27T09:14:16Z</dcterms:created>
  <dcterms:modified xsi:type="dcterms:W3CDTF">2025-11-05T10:13:54Z</dcterms:modified>
  <cp:category/>
</cp:coreProperties>
</file>